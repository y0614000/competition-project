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4" r:id="rId9"/>
    <p:sldId id="261" r:id="rId10"/>
    <p:sldId id="262" r:id="rId11"/>
    <p:sldId id="263" r:id="rId12"/>
  </p:sldIdLst>
  <p:sldSz cx="12192000" cy="6858000"/>
  <p:notesSz cx="6858000" cy="91440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747775"/>
          </p15:clr>
        </p15:guide>
        <p15:guide id="2" pos="296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8"/>
        <p:guide pos="29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4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尊敬的各位评委老师，大家好！我们是</a:t>
            </a:r>
            <a:r>
              <a:rPr lang="zh-CN" altLang="en-US" b="1">
                <a:solidFill>
                  <a:srgbClr val="6B7280"/>
                </a:solidFill>
                <a:latin typeface="Noto Sans SC" panose="020B0500000000000000" charset="-122"/>
                <a:ea typeface="宋体" panose="02010600030101010101" pitchFamily="2" charset="-122"/>
                <a:cs typeface="Noto Sans SC" panose="020B0500000000000000" charset="-122"/>
                <a:sym typeface="Noto Sans SC" panose="020B0500000000000000" charset="-122"/>
              </a:rPr>
              <a:t>破晓星河</a:t>
            </a:r>
            <a:r>
              <a:rPr lang="en-US" sz="1400" b="0" i="0" u="none" strike="noStrike">
                <a:solidFill>
                  <a:srgbClr val="000000"/>
                </a:solidFill>
              </a:rPr>
              <a:t>，今天我们带来的项目是“自贸港人才服务社区网站”。接下来，我将从项目背景、核心功能、技术实现等几个方面进行详细介绍。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请允许我介绍我们的团队。我们团队分工明确，协同高效。队长负责统筹规划，保证项目按时按质完成；前端和后端同学分别负责交互界面和底层逻辑，确保系统的稳健运行；同时，还有专人负责设计与测试，兼顾美观与体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，同时我们也引入了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小助手这个功能</a:t>
            </a:r>
            <a:r>
              <a:rPr lang="en-US" sz="1400" b="0" i="0" u="none" strike="noStrike">
                <a:solidFill>
                  <a:srgbClr val="000000"/>
                </a:solidFill>
              </a:rPr>
              <a:t>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这个课题，主要基于三点考量：一是积极响应海南自贸港“聚四方之才”的号召，贡献一份技术力量；二是希望解决目前人才服务领域信息分散、查找不便的痛点；三是打造一个创新的一站式平台，通过整合资源，切实提升人岗匹配的效率，服务自贸港建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我们的网站采用了清晰的前后端分离架构。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我们整体系统主要包括</a:t>
            </a:r>
            <a:r>
              <a:rPr lang="en-US" sz="1400" b="0" i="0" u="none" strike="noStrike">
                <a:solidFill>
                  <a:srgbClr val="000000"/>
                </a:solidFill>
              </a:rPr>
              <a:t>分为首页、人才服务、企业服务、政策资讯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四</a:t>
            </a:r>
            <a:r>
              <a:rPr lang="en-US" sz="1400" b="0" i="0" u="none" strike="noStrike">
                <a:solidFill>
                  <a:srgbClr val="000000"/>
                </a:solidFill>
              </a:rPr>
              <a:t>大模块，提供全面的服务。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网站的核心功能主要包括四个模块。首页作为信息门户，提供快速导航。人才服务模块专注于帮助求职者找到合适的工作。企业服务模块则为企业提供高效的招聘工具。政策资讯模块确保用户能及时获取最新的政策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在技术实现方面，我们采用了当前主流的前后端分离技术栈。前端使用Vue.js 3结合Element Plus组件库，保证了页面的高性能和良好的交互体验。后端采用稳定可靠的Spring Boot框架和MySQL数据库，确保了数据处理的高效与安全。在部署上，我们支持本地开发环境模拟和主流云平台部署，兼顾了开发便捷性和系统的弹性与安全性。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有三大创新亮点：首先是深度定制的自贸港场景，其次是双向服务模式，最后是简洁易用的界面设计。这些创新点共同构成了我们项目的核心价值，不仅能为人才和企业带来便利，更能为自贸港的人才生态建设贡献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最后，对我们的项目进行总结。目前，网站已完成所有核心功能的开发，并且运行稳定。未来，我们计划继续优化和扩展功能，提供更完善的服务。我的介绍到此结束，再次感谢各位评委老师的聆听！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tags" Target="../tags/tag3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6.xml"/><Relationship Id="rId23" Type="http://schemas.openxmlformats.org/officeDocument/2006/relationships/image" Target="../media/image28.svg"/><Relationship Id="rId22" Type="http://schemas.openxmlformats.org/officeDocument/2006/relationships/image" Target="../media/image27.png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tags" Target="../tags/tag19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8.xml"/><Relationship Id="rId19" Type="http://schemas.openxmlformats.org/officeDocument/2006/relationships/image" Target="../media/image34.svg"/><Relationship Id="rId18" Type="http://schemas.openxmlformats.org/officeDocument/2006/relationships/image" Target="../media/image33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tags" Target="../tags/tag24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image" Target="../media/image44.svg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tags" Target="../tags/tag33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1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image" Target="../media/image50.svg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海南</a:t>
            </a:r>
            <a:r>
              <a:rPr lang="en-US" sz="48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自贸港人才服务</a:t>
            </a:r>
            <a:r>
              <a:rPr lang="zh-CN" altLang="en-US" sz="48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平台</a:t>
            </a:r>
            <a:endParaRPr lang="zh-CN" altLang="en-US" sz="4800" b="1" i="0" u="none" strike="noStrike">
              <a:solidFill>
                <a:srgbClr val="374151"/>
              </a:solidFill>
              <a:latin typeface="华文中宋" panose="02010600040101010101" charset="-122"/>
              <a:ea typeface="华文中宋" panose="02010600040101010101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网页开发创意大赛答辩演示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团队名称</a:t>
            </a:r>
            <a:r>
              <a:rPr lang="zh-CN" altLang="en-US" sz="2000" b="1" i="0" u="none" strike="noStrike">
                <a:solidFill>
                  <a:srgbClr val="6B7280"/>
                </a:solidFill>
                <a:latin typeface="Noto Sans SC" panose="020B0500000000000000" charset="-122"/>
                <a:ea typeface="宋体" panose="02010600030101010101" pitchFamily="2" charset="-122"/>
                <a:cs typeface="Noto Sans SC" panose="020B0500000000000000" charset="-122"/>
                <a:sym typeface="Noto Sans SC" panose="020B0500000000000000" charset="-122"/>
              </a:rPr>
              <a:t>：破晓星河</a:t>
            </a:r>
            <a:r>
              <a:rPr lang="en-US" sz="20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| </a:t>
            </a:r>
            <a:r>
              <a:rPr lang="zh-CN" altLang="en-US" sz="2000" b="1" i="0" u="none" strike="noStrike">
                <a:solidFill>
                  <a:srgbClr val="6B7280"/>
                </a:solidFill>
                <a:latin typeface="Noto Sans SC" panose="020B0500000000000000" charset="-122"/>
                <a:ea typeface="宋体" panose="02010600030101010101" pitchFamily="2" charset="-122"/>
                <a:cs typeface="Noto Sans SC" panose="020B0500000000000000" charset="-122"/>
                <a:sym typeface="Noto Sans SC" panose="020B0500000000000000" charset="-122"/>
              </a:rPr>
              <a:t>汇报人：吴欣欣</a:t>
            </a:r>
            <a:r>
              <a:rPr lang="en-US" altLang="zh-CN" sz="2000" b="1" i="0" u="none" strike="noStrike">
                <a:solidFill>
                  <a:srgbClr val="6B7280"/>
                </a:solidFill>
                <a:latin typeface="Noto Sans SC" panose="020B0500000000000000" charset="-122"/>
                <a:ea typeface="宋体" panose="02010600030101010101" pitchFamily="2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zh-CN" altLang="en-US" sz="2000" b="1" i="0" u="none" strike="noStrike">
                <a:solidFill>
                  <a:srgbClr val="6B7280"/>
                </a:solidFill>
                <a:latin typeface="Noto Sans SC" panose="020B0500000000000000" charset="-122"/>
                <a:ea typeface="宋体" panose="02010600030101010101" pitchFamily="2" charset="-122"/>
                <a:cs typeface="Noto Sans SC" panose="020B0500000000000000" charset="-122"/>
                <a:sym typeface="Noto Sans SC" panose="020B0500000000000000" charset="-122"/>
              </a:rPr>
              <a:t>于俊康</a:t>
            </a:r>
            <a:endParaRPr lang="zh-CN" altLang="en-US" sz="2000" b="1" i="0" u="none" strike="noStrike">
              <a:solidFill>
                <a:srgbClr val="6B7280"/>
              </a:solidFill>
              <a:latin typeface="Noto Sans SC" panose="020B0500000000000000" charset="-122"/>
              <a:ea typeface="宋体" panose="02010600030101010101" pitchFamily="2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团队介绍</a:t>
            </a: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&amp; 选题意义</a:t>
            </a:r>
            <a:endParaRPr lang="en-US" sz="11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82800"/>
            <a:ext cx="50800" cy="279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团队成员分工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349500" cy="3048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74800" y="2946400"/>
            <a:ext cx="1651000" cy="12439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Noto Sans SC" panose="020B0500000000000000" charset="-122"/>
              </a:rPr>
              <a:t>团队队长</a:t>
            </a:r>
            <a:endParaRPr lang="en-US" sz="11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Noto Sans SC" panose="020B0500000000000000" charset="-122"/>
              </a:rPr>
              <a:t>前端用 Vue3+Element Plus 实现交互界面，后端基于 ThinkPHP8+MySQL 搭建架构与接口</a:t>
            </a:r>
            <a:endParaRPr lang="en-US" sz="12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92500" y="2794000"/>
            <a:ext cx="2349500" cy="3048635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4900" y="298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51300" y="2946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宋体" panose="02010600030101010101" pitchFamily="2" charset="-122"/>
                <a:cs typeface="Noto Sans SC" panose="020B0500000000000000" charset="-122"/>
                <a:sym typeface="Noto Sans SC" panose="020B0500000000000000" charset="-122"/>
              </a:rPr>
              <a:t>团队队员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Vue3 + Element Plus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实现交互界面，确保流畅的用户体验。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082800"/>
            <a:ext cx="50800" cy="279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0200" y="2032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628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项目选题价值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2794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048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2921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响应海南自贸港人才政策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紧跟政府“聚四方之才”战略，利用数字化手段，为自贸港引才、留才提供技术支持。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393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191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66000" y="406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解决信息分散痛点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打破传统求职招聘与人才政策信息孤岛，为求职者和企业提供统一、准确的信息入口。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477000" y="5080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5334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5207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创新一站式人才服务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整合求职招聘与政策查询功能，打造高效、透明的服务平台，大幅提升人才与岗位的匹配效率。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网站整体结构</a:t>
            </a:r>
            <a:endParaRPr lang="en-US" sz="11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81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930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前端</a:t>
            </a:r>
            <a:r>
              <a:rPr lang="zh-CN" altLang="en-US" sz="2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层</a:t>
            </a:r>
            <a:endParaRPr lang="zh-CN" altLang="en-US" sz="2200" b="1" i="0" u="none" strike="noStrike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2500" y="2921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🏠 首页：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信息总览与全站快速导航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👤 人才服务：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简历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制作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/ 职位搜索 / 智能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匹配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推荐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职位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🏢 企业服务：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岗位发布 / 人才筛选 / 招聘管理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📢 政策资讯：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自贸港政策 / 行业动态 / 通知公告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981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1930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后端</a:t>
            </a:r>
            <a:r>
              <a:rPr lang="zh-CN" altLang="en-US" sz="2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服务层</a:t>
            </a:r>
            <a:endParaRPr lang="zh-CN" altLang="en-US" sz="2200" b="1" i="0" u="none" strike="noStrike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635500" y="2921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前后端分离架构</a:t>
            </a:r>
            <a:b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解耦开发流程，提升响应速度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系统稳定易扩展</a:t>
            </a:r>
            <a:b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模块化设计，轻松应对业务增长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权限体系清晰</a:t>
            </a:r>
            <a:b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精细划分角色，确保数据安全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endParaRPr lang="zh-CN" alt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9812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1930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Noto Sans SC" panose="020B0500000000000000" charset="-122"/>
              </a:rPr>
              <a:t>AI 辅助模块</a:t>
            </a:r>
            <a:endParaRPr lang="en-US" sz="2200" b="1" i="0" u="none" strike="noStrike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Noto Sans SC" panose="020B05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18500" y="2921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核心功能模块</a:t>
            </a:r>
            <a:endParaRPr lang="en-US" sz="11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16000" y="2298700"/>
            <a:ext cx="863600" cy="863600"/>
          </a:xfrm>
          <a:prstGeom prst="roundRect">
            <a:avLst>
              <a:gd name="adj" fmla="val 23529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3800" y="2476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1590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/ 首页展示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动态轮播图展示重要资讯，聚焦最新热点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整合热门岗位与推荐课程，实现信息聚合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布局清晰的功能导航入口，提升用户体验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6477000" y="2298700"/>
            <a:ext cx="863600" cy="863600"/>
          </a:xfrm>
          <a:prstGeom prst="roundRect">
            <a:avLst>
              <a:gd name="adj" fmla="val 23529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4800" y="2476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76200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/ 人才服务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支持在线简历制作与管理，提升求职效率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基于算法的个性化职位智能推荐，精准匹配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提供在线政策咨询与答疑，解决人才疑虑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1016000" y="4711700"/>
            <a:ext cx="863600" cy="863600"/>
          </a:xfrm>
          <a:prstGeom prst="roundRect">
            <a:avLst>
              <a:gd name="adj" fmla="val 23529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93800" y="4889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21590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/ 企业服务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简化操作流程，实现岗位快速便捷发布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支持关键词与技能的人才库精准检索匹配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提供企业品牌展示位与一站式招聘管理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6477000" y="4711700"/>
            <a:ext cx="863600" cy="863600"/>
          </a:xfrm>
          <a:prstGeom prst="roundRect">
            <a:avLst>
              <a:gd name="adj" fmla="val 23529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54800" y="4889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4"/>
            </p:custDataLst>
          </p:nvPr>
        </p:nvSpPr>
        <p:spPr>
          <a:xfrm>
            <a:off x="76200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/ 政策资讯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实时同步更新自贸港最新人才引进相关政策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分类展示行业前沿资讯与官方通知公告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同时可以发布自己想要发布的话题在广场上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Noto Sans SC" panose="020B0500000000000000" charset="-122"/>
              </a:rPr>
              <a:t>核心功能模块-AI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Noto Sans SC" panose="020B0500000000000000" charset="-122"/>
              </a:rPr>
              <a:t>小助手</a:t>
            </a:r>
            <a:endParaRPr lang="zh-CN" altLang="en-US" sz="3200" b="1" i="0" u="none" strike="noStrike">
              <a:solidFill>
                <a:srgbClr val="37415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技术实现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2352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651000" y="2235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</a:t>
            </a:r>
            <a:r>
              <a:rPr lang="zh-CN" altLang="en-US" sz="2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后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端技术栈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</a:t>
            </a:r>
            <a:r>
              <a:rPr lang="en-US" altLang="zh-CN" sz="1200" b="1" i="0" u="none" strike="noStrike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Vue3 + Element Plus + Vite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前端，</a:t>
            </a:r>
            <a:r>
              <a:rPr lang="en-US" altLang="zh-CN" sz="1200" b="1" i="0" u="none" strike="noStrike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ThinkPHP8 + MySQL5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后端的前后端分离项目，使用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500000000000000" charset="-122"/>
                <a:sym typeface="Noto Sans SC" panose="020B0500000000000000" charset="-122"/>
              </a:rPr>
              <a:t>Git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进行版本管理，前端通过 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Vite 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打包部署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采用组件化开发模式，确保代码的高复用性与维护性，提供流畅的用户交互体验。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9800" y="22352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334000" y="2235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99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32800" y="22352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9017000" y="2235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运行环境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82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开发环境：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本地服务器 (XAMPP) 模拟生产环境，降低开发环境差异风险。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部署环境：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主流云服务器 (阿里云/腾讯云)，支持弹性伸缩，确保系统在高流量下的稳定性与安全性。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Noto Sans SC" panose="020B0500000000000000" charset="-122"/>
              </a:rPr>
              <a:t>创新亮点  &amp; 应用价值</a:t>
            </a:r>
            <a:endParaRPr lang="en-US" sz="11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20828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创新亮点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921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8702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自贸港专属定制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深度贴合海南自贸港政策导向与重点产业发展需求，提供定制化解决方案。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4064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40132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人才+企业双向服务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打通供需信息壁垒，实现人才求职意向与企业招聘需求的高效精准匹配。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143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50927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界面简洁易用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零门槛交互设计，大幅降低用户使用成本，提供流畅、低门槛的优质体验。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27800" y="20828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应用价值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2921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8702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对人才：职业发展全方位支持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整合资源提供一站式求职、政策咨询、技能学习服务，助力人才职业进阶。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7800" y="4064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40132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对企业：精准引才降本增效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智能筛选精准匹配适配人才，缩短招聘周期，有效降低企业引才与用人成本。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27800" y="5143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50927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对自贸港：构建完善人才生态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汇聚省内外优质人才资源，完善区域人才服务体系，为自贸港建设注入核心动能。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总结与致谢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413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651000" y="2413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项目总结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16000" y="3302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● 功能完整：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实现了所有规划的核心功能，满足基本业务闭环需求。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● 运行稳定：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经过多轮充分测试，系统在多场景下运行流畅无报错。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● 原创开发：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所有代码与设计均为团队独立完成，符合大赛原创性要求。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9800" y="2413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5334000" y="2413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未来优化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4699000" y="3302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为了提供更好的用户体验与服务，我们将持续迭代：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 优化智能匹配算法，提升推荐精准度</a:t>
            </a:r>
            <a:endParaRPr lang="en-US" sz="1400" b="0" i="0" u="none" strike="noStrike">
              <a:solidFill>
                <a:srgbClr val="1F2937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 增加用户社区互动功能，增强粘性</a:t>
            </a:r>
            <a:endParaRPr lang="en-US" sz="1400" b="0" i="0" u="none" strike="noStrike">
              <a:solidFill>
                <a:srgbClr val="1F2937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3. 扩展多渠道消息通知，降低信息延迟</a:t>
            </a:r>
            <a:endParaRPr lang="en-US" sz="1400" b="0" i="0" u="none" strike="noStrike">
              <a:solidFill>
                <a:srgbClr val="1F2937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2794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THANKS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4191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感谢评委老师聆听与指导！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期待您的宝贵建议与指正</a:t>
            </a:r>
            <a:endParaRPr lang="en-US" sz="1500" b="0" i="0" u="none" strike="noStrike">
              <a:solidFill>
                <a:srgbClr val="FFFFFF">
                  <a:alpha val="85098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2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3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3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3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4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5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6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7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8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39.xml><?xml version="1.0" encoding="utf-8"?>
<p:tagLst xmlns:p="http://schemas.openxmlformats.org/presentationml/2006/main">
  <p:tag name="KSO_WM_DIAGRAM_VIRTUALLY_FRAME" val="{&quot;height&quot;:320,&quot;left&quot;:60,&quot;top&quot;:160,&quot;width&quot;:550}"/>
</p:tagLst>
</file>

<file path=ppt/tags/tag40.xml><?xml version="1.0" encoding="utf-8"?>
<p:tagLst xmlns:p="http://schemas.openxmlformats.org/presentationml/2006/main">
  <p:tag name="commondata" val="eyJoZGlkIjoiY2M4YWQ0ZGQyNjkyMDU5MjgxNzllNjQ3MWJiN2IwMD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</Words>
  <Application>WPS 演示</Application>
  <PresentationFormat/>
  <Paragraphs>119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华文中宋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一个人的冬天</cp:lastModifiedBy>
  <cp:revision>4</cp:revision>
  <dcterms:created xsi:type="dcterms:W3CDTF">2026-05-21T03:40:00Z</dcterms:created>
  <dcterms:modified xsi:type="dcterms:W3CDTF">2026-05-22T02:14:32Z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6CE65FE4E82A4F9AA8B5FAE5B47AE73B_13</vt:lpwstr>
  </property>
  <property fmtid="{D5CDD505-2E9C-101B-9397-08002B2CF9AE}" pid="3" name="KSOProductBuildVer">
    <vt:lpwstr>2052-12.1.0.25865</vt:lpwstr>
  </property>
</Properties>
</file>